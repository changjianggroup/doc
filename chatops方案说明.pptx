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3" r:id="rId2"/>
    <p:sldId id="260" r:id="rId3"/>
    <p:sldId id="261" r:id="rId4"/>
    <p:sldId id="262" r:id="rId5"/>
    <p:sldId id="284" r:id="rId6"/>
    <p:sldId id="293" r:id="rId7"/>
    <p:sldId id="285" r:id="rId8"/>
    <p:sldId id="271" r:id="rId9"/>
    <p:sldId id="297" r:id="rId10"/>
    <p:sldId id="274" r:id="rId11"/>
    <p:sldId id="298" r:id="rId12"/>
    <p:sldId id="286" r:id="rId13"/>
    <p:sldId id="299" r:id="rId14"/>
    <p:sldId id="300" r:id="rId15"/>
    <p:sldId id="287" r:id="rId16"/>
    <p:sldId id="273" r:id="rId17"/>
    <p:sldId id="301" r:id="rId18"/>
    <p:sldId id="302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409"/>
    <a:srgbClr val="9E211B"/>
    <a:srgbClr val="E3D2AE"/>
    <a:srgbClr val="DAECF7"/>
    <a:srgbClr val="C7020C"/>
    <a:srgbClr val="C91324"/>
    <a:srgbClr val="162F81"/>
    <a:srgbClr val="8A3E7E"/>
    <a:srgbClr val="426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18B37-020C-4F32-869B-B4EC69FC56DC}" type="datetimeFigureOut">
              <a:rPr lang="zh-CN" altLang="en-US" smtClean="0"/>
              <a:t>2020/10/8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A4DA0-D8C6-4F11-87F7-C108A6B13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79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69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93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571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52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282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06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455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808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29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65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347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542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318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156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484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842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861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556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A4DA0-D8C6-4F11-87F7-C108A6B130E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6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"/>
            <a:ext cx="12192000" cy="6857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90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280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137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2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48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7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614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8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48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380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5" indent="-228595" algn="l" defTabSz="914380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5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6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4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25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15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3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8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01776" y="0"/>
            <a:ext cx="7715251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71245" y="2015252"/>
            <a:ext cx="6941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b="1" dirty="0" err="1" smtClean="0">
                <a:solidFill>
                  <a:schemeClr val="bg1"/>
                </a:solidFill>
                <a:cs typeface="+mn-ea"/>
                <a:sym typeface="+mn-lt"/>
              </a:rPr>
              <a:t>chatops</a:t>
            </a:r>
            <a:r>
              <a:rPr kumimoji="1" lang="zh-CN" altLang="en-US" sz="5400" b="1" dirty="0" smtClean="0">
                <a:solidFill>
                  <a:schemeClr val="bg1"/>
                </a:solidFill>
                <a:cs typeface="+mn-ea"/>
                <a:sym typeface="+mn-lt"/>
              </a:rPr>
              <a:t>方案</a:t>
            </a:r>
            <a:r>
              <a:rPr kumimoji="1" lang="zh-CN" altLang="en-US" sz="5400" b="1" dirty="0">
                <a:solidFill>
                  <a:schemeClr val="bg1"/>
                </a:solidFill>
                <a:cs typeface="+mn-ea"/>
                <a:sym typeface="+mn-lt"/>
              </a:rPr>
              <a:t>说明</a:t>
            </a:r>
            <a:endParaRPr kumimoji="1" lang="zh-CN" altLang="en-US" sz="5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51143" y="1230419"/>
            <a:ext cx="3878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400" b="1" dirty="0" smtClean="0">
                <a:solidFill>
                  <a:schemeClr val="bg1"/>
                </a:solidFill>
                <a:cs typeface="+mn-ea"/>
                <a:sym typeface="+mn-lt"/>
              </a:rPr>
              <a:t>以聊天方式来做运维</a:t>
            </a:r>
            <a:endParaRPr kumimoji="1"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02795" y="3307916"/>
            <a:ext cx="457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dirty="0" smtClean="0">
                <a:solidFill>
                  <a:schemeClr val="bg1"/>
                </a:solidFill>
                <a:cs typeface="+mn-ea"/>
                <a:sym typeface="+mn-lt"/>
              </a:rPr>
              <a:t>聊天机器人帮你简化繁琐的运维工作</a:t>
            </a:r>
            <a:endParaRPr kumimoji="1"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060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22182" y="3309236"/>
            <a:ext cx="61909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 err="1" smtClean="0">
                <a:solidFill>
                  <a:schemeClr val="bg1"/>
                </a:solidFill>
                <a:cs typeface="+mn-ea"/>
                <a:sym typeface="+mn-lt"/>
              </a:rPr>
              <a:t>Chatops</a:t>
            </a:r>
            <a:r>
              <a:rPr kumimoji="1" lang="zh-CN" altLang="en-US" sz="5400" b="1" dirty="0" smtClean="0">
                <a:solidFill>
                  <a:schemeClr val="bg1"/>
                </a:solidFill>
                <a:cs typeface="+mn-ea"/>
                <a:sym typeface="+mn-lt"/>
              </a:rPr>
              <a:t>已经是潮流和方向之一</a:t>
            </a:r>
            <a:endParaRPr kumimoji="1" lang="zh-CN" altLang="en-US" sz="5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1169" y="4047901"/>
            <a:ext cx="3459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1"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人工智能将引领下一波计算浪潮。</a:t>
            </a:r>
            <a:r>
              <a:rPr kumimoji="1" lang="en-US" altLang="zh-CN" sz="1600" dirty="0" smtClean="0">
                <a:solidFill>
                  <a:schemeClr val="bg1"/>
                </a:solidFill>
                <a:cs typeface="+mn-ea"/>
                <a:sym typeface="+mn-lt"/>
              </a:rPr>
              <a:t>AI</a:t>
            </a:r>
            <a:r>
              <a:rPr kumimoji="1"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无处不在，那么运维领域能</a:t>
            </a:r>
            <a:r>
              <a:rPr kumimoji="1" lang="en-US" altLang="zh-CN" sz="1600" dirty="0" err="1" smtClean="0">
                <a:solidFill>
                  <a:schemeClr val="bg1"/>
                </a:solidFill>
                <a:cs typeface="+mn-ea"/>
                <a:sym typeface="+mn-lt"/>
              </a:rPr>
              <a:t>AIops</a:t>
            </a:r>
            <a:r>
              <a:rPr kumimoji="1"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吗？太难了，但是我们可以先</a:t>
            </a:r>
            <a:r>
              <a:rPr kumimoji="1" lang="en-US" altLang="zh-CN" sz="1600" dirty="0" err="1" smtClean="0">
                <a:solidFill>
                  <a:schemeClr val="bg1"/>
                </a:solidFill>
                <a:cs typeface="+mn-ea"/>
                <a:sym typeface="+mn-lt"/>
              </a:rPr>
              <a:t>chatops</a:t>
            </a:r>
            <a:endParaRPr kumimoji="1" lang="en-US" altLang="zh-CN" sz="16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09053" y="4232569"/>
            <a:ext cx="345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 smtClean="0">
                <a:solidFill>
                  <a:schemeClr val="bg1"/>
                </a:solidFill>
                <a:cs typeface="+mn-ea"/>
                <a:sym typeface="+mn-lt"/>
              </a:rPr>
              <a:t>聊天工具作为媒介，让我们在移动端就能做好基本的运维工作</a:t>
            </a:r>
            <a:endParaRPr kumimoji="1" lang="en-US" altLang="zh-CN" sz="16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569" y="580752"/>
            <a:ext cx="11382451" cy="272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9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3C65A11C-C8A9-4F8A-8D19-C0BB48CE7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25" y="471624"/>
            <a:ext cx="247468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5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 录</a:t>
            </a:r>
          </a:p>
        </p:txBody>
      </p:sp>
      <p:sp>
        <p:nvSpPr>
          <p:cNvPr id="3" name="矩形 160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1BA4CA94-9A23-4522-9B30-F46A5E25C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923" y="1333400"/>
            <a:ext cx="200627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bg1"/>
                </a:solidFill>
                <a:cs typeface="+mn-ea"/>
                <a:sym typeface="+mn-lt"/>
              </a:rPr>
              <a:t>CONTENT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23CA4D2B-A4BD-4D07-940E-F388750FB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23" y="2090172"/>
            <a:ext cx="35255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什么是</a:t>
            </a:r>
            <a:r>
              <a:rPr lang="en-US" altLang="zh-CN" sz="2800" b="1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chatops</a:t>
            </a:r>
            <a:endParaRPr lang="en-US" altLang="zh-CN" sz="2800" b="1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它能帮我们做什么</a:t>
            </a:r>
            <a:endParaRPr lang="en-US" altLang="zh-CN" sz="2800" b="1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实现方案</a:t>
            </a:r>
            <a:endParaRPr lang="en-US" altLang="zh-CN" sz="28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BA26F878-2D1A-42D6-9DDC-9AB1D2872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743" y="2764953"/>
            <a:ext cx="450993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初步成果展示</a:t>
            </a:r>
            <a:endParaRPr lang="en-US" altLang="zh-CN" sz="2800" b="1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安全可控</a:t>
            </a:r>
            <a:endParaRPr lang="en-US" altLang="zh-CN" sz="28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20817" y="0"/>
            <a:ext cx="771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19C8A2C-D282-4602-B69D-3CD87C86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49" y="928824"/>
            <a:ext cx="247468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50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第一章</a:t>
            </a:r>
          </a:p>
        </p:txBody>
      </p:sp>
      <p:sp>
        <p:nvSpPr>
          <p:cNvPr id="3" name="矩形 160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31186E7-7608-4714-B1DC-5B5DCA13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47" y="1790600"/>
            <a:ext cx="200627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>
                <a:solidFill>
                  <a:schemeClr val="bg1"/>
                </a:solidFill>
                <a:cs typeface="+mn-ea"/>
                <a:sym typeface="+mn-lt"/>
              </a:rPr>
              <a:t>PART.01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E81A05D7-E387-4B91-9F95-B167427A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47" y="2612390"/>
            <a:ext cx="5841679" cy="134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4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什么是</a:t>
            </a:r>
            <a:r>
              <a:rPr lang="en-US" altLang="zh-CN" sz="4800" b="1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chatops</a:t>
            </a:r>
            <a:endParaRPr lang="en-US" altLang="zh-CN" sz="48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2ABB8F2F-EC0E-4F5B-88F2-91E53A42F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47" y="4134632"/>
            <a:ext cx="769587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Chatops</a:t>
            </a:r>
            <a:r>
              <a:rPr lang="en-US" altLang="zh-CN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字面意思即聊天运维，即借用一种或多种社交聊天工具来完成运维工作。运维的脚本或程序，可以通过聊天工具实现触发式的运行并通过聊天工具输出结果。运维人员在非办公环境下，仅靠一部手机就能实现基本的运维工作。</a:t>
            </a:r>
            <a:endParaRPr lang="zh-CN" altLang="en-US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20817" y="0"/>
            <a:ext cx="771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3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19C8A2C-D282-4602-B69D-3CD87C86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49" y="928824"/>
            <a:ext cx="247468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50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第二章</a:t>
            </a:r>
            <a:endParaRPr lang="zh-CN" altLang="en-US" sz="50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160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31186E7-7608-4714-B1DC-5B5DCA13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47" y="1790600"/>
            <a:ext cx="200627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 smtClean="0">
                <a:solidFill>
                  <a:schemeClr val="bg1"/>
                </a:solidFill>
                <a:cs typeface="+mn-ea"/>
                <a:sym typeface="+mn-lt"/>
              </a:rPr>
              <a:t>PART.02</a:t>
            </a:r>
            <a:endParaRPr lang="en-US" altLang="zh-CN" sz="2000" i="1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E81A05D7-E387-4B91-9F95-B167427A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47" y="2612390"/>
            <a:ext cx="584167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4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它能帮我们做什么</a:t>
            </a:r>
            <a:endParaRPr lang="en-US" altLang="zh-CN" sz="48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20817" y="0"/>
            <a:ext cx="771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3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6694062-C54A-496E-924C-B502A60F7AF2}"/>
              </a:ext>
            </a:extLst>
          </p:cNvPr>
          <p:cNvGrpSpPr/>
          <p:nvPr/>
        </p:nvGrpSpPr>
        <p:grpSpPr>
          <a:xfrm>
            <a:off x="394023" y="402594"/>
            <a:ext cx="6058292" cy="1289763"/>
            <a:chOff x="394022" y="402591"/>
            <a:chExt cx="5581996" cy="61321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022" y="402591"/>
              <a:ext cx="5581996" cy="422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457200" indent="-457200" fontAlgn="base">
                <a:buFont typeface="Wingdings" panose="05000000000000000000" pitchFamily="2" charset="2"/>
                <a:buChar char="Ø"/>
              </a:pPr>
              <a:r>
                <a:rPr lang="en-US" altLang="zh-CN" sz="3200" b="1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lang="zh-CN" altLang="en-US" sz="3200" b="1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信息查询工作</a:t>
              </a:r>
              <a:endParaRPr lang="en-US" altLang="zh-CN" sz="3200" b="1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022" y="737774"/>
              <a:ext cx="4127178" cy="278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服务器、网络设备、服务的运行状况。</a:t>
              </a:r>
              <a:endPara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工单任务完成进度，业务审批流程状态。。。</a:t>
              </a:r>
              <a:endParaRPr lang="zh-CN" altLang="en-US" sz="11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EEDDDE6B-0CDB-42D7-8238-7F2FB3131635}"/>
              </a:ext>
            </a:extLst>
          </p:cNvPr>
          <p:cNvSpPr txBox="1">
            <a:spLocks/>
          </p:cNvSpPr>
          <p:nvPr/>
        </p:nvSpPr>
        <p:spPr>
          <a:xfrm>
            <a:off x="4386850" y="2908848"/>
            <a:ext cx="4214068" cy="35417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35657"/>
            <a:ext cx="6235700" cy="3507932"/>
          </a:xfrm>
          <a:prstGeom prst="rect">
            <a:avLst/>
          </a:prstGeom>
        </p:spPr>
      </p:pic>
      <p:grpSp>
        <p:nvGrpSpPr>
          <p:cNvPr id="17" name="组合 3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6694062-C54A-496E-924C-B502A60F7AF2}"/>
              </a:ext>
            </a:extLst>
          </p:cNvPr>
          <p:cNvGrpSpPr/>
          <p:nvPr/>
        </p:nvGrpSpPr>
        <p:grpSpPr>
          <a:xfrm>
            <a:off x="6133708" y="3436327"/>
            <a:ext cx="5980231" cy="1313402"/>
            <a:chOff x="-920767" y="296577"/>
            <a:chExt cx="5581996" cy="389689"/>
          </a:xfrm>
        </p:grpSpPr>
        <p:sp>
          <p:nvSpPr>
            <p:cNvPr id="18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20767" y="296577"/>
              <a:ext cx="5581996" cy="173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457200" indent="-457200" fontAlgn="base">
                <a:buFont typeface="Wingdings" panose="05000000000000000000" pitchFamily="2" charset="2"/>
                <a:buChar char="Ø"/>
              </a:pPr>
              <a:r>
                <a:rPr lang="en-US" altLang="zh-CN" sz="3200" b="1" i="1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zh-CN" altLang="en-US" sz="3200" b="1" i="1" dirty="0" smtClean="0">
                  <a:solidFill>
                    <a:schemeClr val="bg1"/>
                  </a:solidFill>
                  <a:cs typeface="+mn-ea"/>
                  <a:sym typeface="+mn-lt"/>
                </a:rPr>
                <a:t>预警及消息提醒</a:t>
              </a:r>
              <a:endParaRPr lang="en-US" altLang="zh-CN" sz="32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37354" y="512762"/>
              <a:ext cx="4127177" cy="173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硬件资源、服务、工单预警</a:t>
              </a:r>
              <a:endPara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邮件接收、业务审批提醒</a:t>
              </a:r>
              <a:endPara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" name="组合 3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6694062-C54A-496E-924C-B502A60F7AF2}"/>
              </a:ext>
            </a:extLst>
          </p:cNvPr>
          <p:cNvGrpSpPr/>
          <p:nvPr/>
        </p:nvGrpSpPr>
        <p:grpSpPr>
          <a:xfrm>
            <a:off x="6055647" y="480878"/>
            <a:ext cx="6058292" cy="1462931"/>
            <a:chOff x="-448489" y="313672"/>
            <a:chExt cx="5581996" cy="695543"/>
          </a:xfrm>
        </p:grpSpPr>
        <p:sp>
          <p:nvSpPr>
            <p:cNvPr id="21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48489" y="313672"/>
              <a:ext cx="5581996" cy="278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457200" indent="-457200" fontAlgn="base">
                <a:buFont typeface="Wingdings" panose="05000000000000000000" pitchFamily="2" charset="2"/>
                <a:buChar char="Ø"/>
              </a:pPr>
              <a:r>
                <a:rPr lang="en-US" altLang="zh-CN" sz="3200" b="1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lang="zh-CN" altLang="en-US" sz="3200" b="1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资源管理</a:t>
              </a:r>
              <a:endParaRPr lang="en-US" altLang="zh-CN" sz="3200" b="1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94227" y="650704"/>
              <a:ext cx="4127178" cy="3585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服务器、网络设备、服务重启或关闭</a:t>
              </a:r>
              <a:endPara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资源重新配置（动态扩容或者缩容）</a:t>
              </a:r>
              <a:endPara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eaLnBrk="1" hangingPunct="1"/>
              <a:endParaRPr lang="zh-CN" altLang="en-US" sz="11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组合 3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6694062-C54A-496E-924C-B502A60F7AF2}"/>
              </a:ext>
            </a:extLst>
          </p:cNvPr>
          <p:cNvGrpSpPr/>
          <p:nvPr/>
        </p:nvGrpSpPr>
        <p:grpSpPr>
          <a:xfrm>
            <a:off x="6167264" y="2079115"/>
            <a:ext cx="6058292" cy="1063163"/>
            <a:chOff x="-234894" y="307654"/>
            <a:chExt cx="5581996" cy="505475"/>
          </a:xfrm>
        </p:grpSpPr>
        <p:sp>
          <p:nvSpPr>
            <p:cNvPr id="24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4894" y="307654"/>
              <a:ext cx="5581996" cy="278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457200" indent="-457200" fontAlgn="base">
                <a:buFont typeface="Wingdings" panose="05000000000000000000" pitchFamily="2" charset="2"/>
                <a:buChar char="Ø"/>
              </a:pPr>
              <a:r>
                <a:rPr lang="en-US" altLang="zh-CN" sz="3200" b="1" i="1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zh-CN" altLang="en-US" sz="3200" b="1" i="1" dirty="0">
                  <a:solidFill>
                    <a:schemeClr val="bg1"/>
                  </a:solidFill>
                  <a:cs typeface="+mn-ea"/>
                  <a:sym typeface="+mn-lt"/>
                </a:rPr>
                <a:t>账号及权限配置</a:t>
              </a:r>
              <a:endParaRPr lang="en-US" altLang="zh-CN" sz="32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4894" y="652165"/>
              <a:ext cx="4127177" cy="1609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账号创建、账号删除、密码更改、权限变更</a:t>
              </a:r>
              <a:endPara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6" name="组合 3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6694062-C54A-496E-924C-B502A60F7AF2}"/>
              </a:ext>
            </a:extLst>
          </p:cNvPr>
          <p:cNvGrpSpPr/>
          <p:nvPr/>
        </p:nvGrpSpPr>
        <p:grpSpPr>
          <a:xfrm>
            <a:off x="6108123" y="4933612"/>
            <a:ext cx="6058292" cy="1067182"/>
            <a:chOff x="-234894" y="307654"/>
            <a:chExt cx="5581996" cy="507386"/>
          </a:xfrm>
        </p:grpSpPr>
        <p:sp>
          <p:nvSpPr>
            <p:cNvPr id="27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4894" y="307654"/>
              <a:ext cx="5581996" cy="278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457200" indent="-457200" fontAlgn="base">
                <a:buFont typeface="Wingdings" panose="05000000000000000000" pitchFamily="2" charset="2"/>
                <a:buChar char="Ø"/>
              </a:pPr>
              <a:r>
                <a:rPr lang="en-US" altLang="zh-CN" sz="3200" b="1" i="1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zh-CN" altLang="en-US" sz="3200" b="1" i="1" dirty="0" smtClean="0">
                  <a:solidFill>
                    <a:schemeClr val="bg1"/>
                  </a:solidFill>
                  <a:cs typeface="+mn-ea"/>
                  <a:sym typeface="+mn-lt"/>
                </a:rPr>
                <a:t>复杂的运维工作</a:t>
              </a:r>
              <a:endParaRPr lang="en-US" altLang="zh-CN" sz="32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TextBox 6">
              <a:extLst>
                <a:ext uri="{FF2B5EF4-FFF2-40B4-BE49-F238E27FC236}">
  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5572" y="654076"/>
              <a:ext cx="4127177" cy="1609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numCol="1">
              <a:spAutoFit/>
            </a:bodyPr>
            <a:lstStyle>
              <a:lvl1pPr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974725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974725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 i="1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安装卸载服务、巡检、脚本执行</a:t>
              </a:r>
              <a:endPara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477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19C8A2C-D282-4602-B69D-3CD87C86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49" y="928824"/>
            <a:ext cx="247468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50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第三章</a:t>
            </a:r>
            <a:endParaRPr lang="zh-CN" altLang="en-US" sz="50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160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31186E7-7608-4714-B1DC-5B5DCA13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47" y="1790600"/>
            <a:ext cx="200627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 smtClean="0">
                <a:solidFill>
                  <a:schemeClr val="bg1"/>
                </a:solidFill>
                <a:cs typeface="+mn-ea"/>
                <a:sym typeface="+mn-lt"/>
              </a:rPr>
              <a:t>PART.03</a:t>
            </a:r>
            <a:endParaRPr lang="en-US" altLang="zh-CN" sz="2000" i="1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E81A05D7-E387-4B91-9F95-B167427A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47" y="2612390"/>
            <a:ext cx="5841679" cy="1350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4800" b="1" i="1" dirty="0">
                <a:solidFill>
                  <a:schemeClr val="bg1"/>
                </a:solidFill>
                <a:cs typeface="+mn-ea"/>
                <a:sym typeface="+mn-lt"/>
              </a:rPr>
              <a:t>实现方案</a:t>
            </a:r>
            <a:endParaRPr lang="en-US" altLang="zh-CN" sz="4800" b="1" i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20817" y="0"/>
            <a:ext cx="771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3" y="402592"/>
            <a:ext cx="58416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altLang="zh-CN" sz="3200" b="1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chatops</a:t>
            </a:r>
            <a:r>
              <a:rPr lang="zh-CN" altLang="en-US" sz="32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架构图</a:t>
            </a:r>
            <a:endParaRPr lang="en-US" altLang="zh-CN" sz="32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99" y="1366703"/>
            <a:ext cx="9224963" cy="367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4" y="402591"/>
            <a:ext cx="54658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组件解析</a:t>
            </a:r>
            <a:endParaRPr lang="en-US" altLang="zh-CN" sz="32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22" y="1065957"/>
            <a:ext cx="90307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i="1" dirty="0" err="1" smtClean="0">
                <a:solidFill>
                  <a:schemeClr val="bg1"/>
                </a:solidFill>
                <a:cs typeface="+mn-ea"/>
                <a:sym typeface="+mn-lt"/>
              </a:rPr>
              <a:t>Chatops</a:t>
            </a:r>
            <a:r>
              <a:rPr lang="zh-CN" altLang="en-US" sz="2000" i="1" dirty="0" smtClean="0">
                <a:solidFill>
                  <a:schemeClr val="bg1"/>
                </a:solidFill>
                <a:cs typeface="+mn-ea"/>
                <a:sym typeface="+mn-lt"/>
              </a:rPr>
              <a:t>组件：</a:t>
            </a:r>
            <a:r>
              <a:rPr lang="en-US" altLang="zh-CN" sz="2000" i="1" dirty="0" smtClean="0">
                <a:solidFill>
                  <a:schemeClr val="bg1"/>
                </a:solidFill>
                <a:cs typeface="+mn-ea"/>
                <a:sym typeface="+mn-lt"/>
              </a:rPr>
              <a:t>telegram</a:t>
            </a:r>
            <a:r>
              <a:rPr lang="zh-CN" altLang="en-US" sz="2000" i="1" dirty="0" smtClean="0">
                <a:solidFill>
                  <a:schemeClr val="bg1"/>
                </a:solidFill>
                <a:cs typeface="+mn-ea"/>
                <a:sym typeface="+mn-lt"/>
              </a:rPr>
              <a:t>、</a:t>
            </a:r>
            <a:r>
              <a:rPr lang="en-US" altLang="zh-CN" sz="2000" i="1" dirty="0" err="1" smtClean="0">
                <a:solidFill>
                  <a:schemeClr val="bg1"/>
                </a:solidFill>
                <a:cs typeface="+mn-ea"/>
                <a:sym typeface="+mn-lt"/>
              </a:rPr>
              <a:t>errbot</a:t>
            </a:r>
            <a:r>
              <a:rPr lang="zh-CN" altLang="en-US" sz="2000" i="1" dirty="0">
                <a:solidFill>
                  <a:schemeClr val="bg1"/>
                </a:solidFill>
                <a:cs typeface="+mn-ea"/>
                <a:sym typeface="+mn-lt"/>
              </a:rPr>
              <a:t>、</a:t>
            </a:r>
            <a:r>
              <a:rPr lang="en-US" altLang="zh-CN" sz="2000" i="1" dirty="0" err="1" smtClean="0">
                <a:solidFill>
                  <a:schemeClr val="bg1"/>
                </a:solidFill>
                <a:cs typeface="+mn-ea"/>
                <a:sym typeface="+mn-lt"/>
              </a:rPr>
              <a:t>stackstorm</a:t>
            </a:r>
            <a:endParaRPr lang="zh-CN" altLang="en-US" sz="20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90" y="1750212"/>
            <a:ext cx="98008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：聊天工具，作为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chatops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前端，自带机器人功能，机器人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api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接口丰富且功能强大，作为现在聊天机器人实践功能最强大的聊天工具。当然也可以以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italk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作为替代产品，仅限于内网工作使用。</a:t>
            </a:r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89" y="2520797"/>
            <a:ext cx="980085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errbot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：聊天机器人框架，框架支持接入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，通过编写命令程序，把接收到聊天工具端的消息进行过滤和筛选解析成命令，接着根据命令完成指定程序也可以通过插件把命令传输到后端像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这种基于事件响应的工作流平台来处理命令，使编制的命令可以完成更复杂且可以追踪事件执行（通过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）工作流。</a:t>
            </a:r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88" y="3844757"/>
            <a:ext cx="980085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：开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源</a:t>
            </a:r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自动化平台，可将所有应用程序，服务和工作流程连接起来。 它具有可扩展性，灵活性</a:t>
            </a:r>
            <a:r>
              <a:rPr lang="en-US" altLang="zh-CN" sz="1600" i="1" dirty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, </a:t>
            </a:r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设计中包含了对</a:t>
            </a:r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</a:rPr>
              <a:t>DevOps</a:t>
            </a:r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和</a:t>
            </a:r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</a:rPr>
              <a:t>ChatOps</a:t>
            </a:r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的热爱。 它可以将您现有的基础架构和应用程序环境联系在一起，以便您可以更轻松地自动化操作该环境。 它特别专注于针对事件采取行动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。以生产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-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</a:rPr>
              <a:t>消费者模型进行事件消化，事件可以追踪和记录，功能极其强大。</a:t>
            </a:r>
            <a:endParaRPr lang="zh-CN" altLang="en-US" sz="16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626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4" y="402591"/>
            <a:ext cx="54658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工作方式说明</a:t>
            </a:r>
            <a:endParaRPr lang="en-US" altLang="zh-CN" sz="32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44" y="2200972"/>
            <a:ext cx="9368162" cy="173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 </a:t>
            </a:r>
          </a:p>
          <a:p>
            <a:pPr eaLnBrk="1" hangingPunct="1"/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一方面：接收和输出消息给移动端，另一方面：接收和传递消息给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errbot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Errbot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一方面：接收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传递来的消息然后过滤并解析为命令，把命令给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另一方面，接收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执行命令结果，然后输出给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</a:t>
            </a:r>
          </a:p>
          <a:p>
            <a:pPr eaLnBrk="1" hangingPunct="1"/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接收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errbot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传递的命令后直接触发执行动作流，并输出结果给</a:t>
            </a:r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errbot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23" y="1070126"/>
            <a:ext cx="4479338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0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此架构包含两种</a:t>
            </a:r>
            <a:r>
              <a:rPr lang="en-US" altLang="zh-CN" sz="20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chatops</a:t>
            </a:r>
            <a:r>
              <a:rPr lang="zh-CN" altLang="en-US" sz="20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工作方式：</a:t>
            </a:r>
            <a:endParaRPr lang="en-US" altLang="zh-CN" sz="20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44" y="1610381"/>
            <a:ext cx="4479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一 </a:t>
            </a:r>
            <a:r>
              <a:rPr lang="en-US" altLang="zh-CN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  <a:r>
              <a:rPr lang="zh-CN" altLang="en-US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命令式</a:t>
            </a:r>
            <a:r>
              <a:rPr lang="zh-CN" altLang="en-US" i="1" dirty="0" smtClean="0">
                <a:solidFill>
                  <a:schemeClr val="bg1"/>
                </a:solidFill>
                <a:latin typeface="+mj-lt"/>
                <a:ea typeface="+mn-ea"/>
                <a:cs typeface="+mn-ea"/>
                <a:sym typeface="+mn-lt"/>
              </a:rPr>
              <a:t>触发</a:t>
            </a:r>
            <a:r>
              <a:rPr lang="zh-CN" altLang="en-US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工作：</a:t>
            </a:r>
            <a:endParaRPr lang="zh-CN" altLang="en-US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23" y="3976503"/>
            <a:ext cx="4479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二</a:t>
            </a:r>
            <a:r>
              <a:rPr lang="en-US" altLang="zh-CN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  <a:r>
              <a:rPr lang="en-US" altLang="zh-CN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webhook</a:t>
            </a:r>
            <a:r>
              <a:rPr lang="zh-CN" altLang="en-US" i="1" dirty="0" smtClean="0">
                <a:solidFill>
                  <a:schemeClr val="bg1"/>
                </a:solidFill>
                <a:latin typeface="+mj-lt"/>
                <a:ea typeface="+mn-ea"/>
                <a:cs typeface="+mn-ea"/>
                <a:sym typeface="+mn-lt"/>
              </a:rPr>
              <a:t>触发</a:t>
            </a:r>
            <a:r>
              <a:rPr lang="zh-CN" altLang="en-US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工作：</a:t>
            </a:r>
            <a:endParaRPr lang="zh-CN" altLang="en-US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44" y="4378259"/>
            <a:ext cx="936816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 </a:t>
            </a:r>
          </a:p>
          <a:p>
            <a:pPr eaLnBrk="1" hangingPunct="1"/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传递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移动端对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webhook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触发请求，并输出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传递过来的动作流结果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tackstorm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接收</a:t>
            </a:r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webhook</a:t>
            </a:r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触发请求，并输出</a:t>
            </a:r>
            <a:r>
              <a:rPr lang="en-US" altLang="zh-CN" sz="1600" i="1" dirty="0" err="1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1600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传递过来的动作流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结果到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</a:t>
            </a:r>
            <a:endParaRPr lang="en-US" altLang="zh-CN" sz="16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407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23" y="1065957"/>
            <a:ext cx="44793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zh-CN" sz="2000" i="1" dirty="0" err="1" smtClean="0">
                <a:solidFill>
                  <a:schemeClr val="bg1"/>
                </a:solidFill>
                <a:cs typeface="+mn-ea"/>
                <a:sym typeface="+mn-lt"/>
              </a:rPr>
              <a:t>Stackstorm</a:t>
            </a:r>
            <a:r>
              <a:rPr lang="zh-CN" altLang="en-US" sz="2000" i="1" dirty="0" smtClean="0">
                <a:solidFill>
                  <a:schemeClr val="bg1"/>
                </a:solidFill>
                <a:cs typeface="+mn-ea"/>
                <a:sym typeface="+mn-lt"/>
              </a:rPr>
              <a:t>内部工作流如左图所示</a:t>
            </a:r>
            <a:endParaRPr lang="en-US" altLang="zh-CN" sz="2000" i="1" dirty="0">
              <a:solidFill>
                <a:schemeClr val="bg1"/>
              </a:solidFill>
              <a:cs typeface="+mn-ea"/>
              <a:sym typeface="+mn-lt"/>
            </a:endParaRPr>
          </a:p>
          <a:p>
            <a:pPr eaLnBrk="1" hangingPunct="1"/>
            <a:endParaRPr lang="zh-CN" altLang="en-US" sz="20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670" y="0"/>
            <a:ext cx="5151549" cy="6796582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090" y="1750212"/>
            <a:ext cx="307808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1.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由命令或者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webhook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触发动作流开始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动作流由动作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开始执行由结果的成功或者失败决定进行动作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2-1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或者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2-2</a:t>
            </a:r>
          </a:p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既然由动作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2-1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或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2-2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的成功与失败决定进行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3-1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3-2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3-3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3-4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等等动作</a:t>
            </a:r>
            <a:endParaRPr lang="en-US" altLang="zh-CN" sz="1600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eaLnBrk="1" hangingPunct="1"/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4.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最终进行几轮动作后，得到最终结果，并输出到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errbot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或者</a:t>
            </a:r>
            <a:r>
              <a:rPr lang="en-US" altLang="zh-CN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telegram</a:t>
            </a:r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4" y="402591"/>
            <a:ext cx="546586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altLang="zh-CN" sz="3200" b="1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Stackstorm</a:t>
            </a:r>
            <a:r>
              <a:rPr lang="zh-CN" altLang="en-US" sz="3200" b="1" i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工作流</a:t>
            </a:r>
            <a:endParaRPr lang="en-US" altLang="zh-CN" sz="32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370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19C8A2C-D282-4602-B69D-3CD87C86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49" y="928824"/>
            <a:ext cx="247468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50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第四章</a:t>
            </a:r>
            <a:endParaRPr lang="zh-CN" altLang="en-US" sz="50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160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31186E7-7608-4714-B1DC-5B5DCA13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47" y="1790600"/>
            <a:ext cx="200627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 smtClean="0">
                <a:solidFill>
                  <a:schemeClr val="bg1"/>
                </a:solidFill>
                <a:cs typeface="+mn-ea"/>
                <a:sym typeface="+mn-lt"/>
              </a:rPr>
              <a:t>PART.04</a:t>
            </a:r>
            <a:endParaRPr lang="en-US" altLang="zh-CN" sz="2000" i="1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E81A05D7-E387-4B91-9F95-B167427A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47" y="2612390"/>
            <a:ext cx="5841679" cy="134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4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初步成果展示</a:t>
            </a:r>
            <a:endParaRPr lang="en-US" altLang="zh-CN" sz="48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20817" y="0"/>
            <a:ext cx="771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6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3" y="402592"/>
            <a:ext cx="58416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实际案例说明</a:t>
            </a:r>
            <a:endParaRPr lang="en-US" altLang="zh-CN" sz="32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95176" y="1069420"/>
            <a:ext cx="11831951" cy="635688"/>
          </a:xfrm>
          <a:prstGeom prst="rect">
            <a:avLst/>
          </a:prstGeom>
          <a:noFill/>
        </p:spPr>
        <p:txBody>
          <a:bodyPr wrap="square" lIns="80899" tIns="40450" rIns="80899" bIns="40450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cs typeface="+mn-ea"/>
                <a:sym typeface="+mn-lt"/>
              </a:rPr>
              <a:t>接入</a:t>
            </a:r>
            <a:r>
              <a:rPr lang="en-US" altLang="zh-CN" b="1" dirty="0" err="1" smtClean="0">
                <a:solidFill>
                  <a:schemeClr val="bg1"/>
                </a:solidFill>
                <a:cs typeface="+mn-ea"/>
                <a:sym typeface="+mn-lt"/>
              </a:rPr>
              <a:t>zabbix</a:t>
            </a:r>
            <a:r>
              <a:rPr lang="zh-CN" altLang="en-US" b="1" dirty="0" smtClean="0">
                <a:solidFill>
                  <a:schemeClr val="bg1"/>
                </a:solidFill>
                <a:cs typeface="+mn-ea"/>
                <a:sym typeface="+mn-lt"/>
              </a:rPr>
              <a:t>报警输出，借由报警输出提示，通过报警机器实际相关资源监控图（</a:t>
            </a:r>
            <a:r>
              <a:rPr lang="en-US" altLang="zh-CN" b="1" dirty="0" err="1" smtClean="0">
                <a:solidFill>
                  <a:schemeClr val="bg1"/>
                </a:solidFill>
                <a:cs typeface="+mn-ea"/>
                <a:sym typeface="+mn-lt"/>
              </a:rPr>
              <a:t>cpu|memory|disk|network</a:t>
            </a:r>
            <a:r>
              <a:rPr lang="zh-CN" altLang="en-US" b="1" dirty="0" smtClean="0">
                <a:solidFill>
                  <a:schemeClr val="bg1"/>
                </a:solidFill>
                <a:cs typeface="+mn-ea"/>
                <a:sym typeface="+mn-lt"/>
              </a:rPr>
              <a:t>）等查询报警原因</a:t>
            </a:r>
            <a:endParaRPr lang="id-ID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6" y="2075317"/>
            <a:ext cx="4120837" cy="4334267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3" y="1736763"/>
            <a:ext cx="30780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报警产生如下图</a:t>
            </a:r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480" y="1720935"/>
            <a:ext cx="427027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通过对应报警服务器资源监控图找出原因</a:t>
            </a:r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075317"/>
            <a:ext cx="4008436" cy="434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7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3" y="402592"/>
            <a:ext cx="58416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实际案例说明</a:t>
            </a:r>
            <a:endParaRPr lang="en-US" altLang="zh-CN" sz="32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13"/>
          <p:cNvSpPr txBox="1"/>
          <p:nvPr/>
        </p:nvSpPr>
        <p:spPr>
          <a:xfrm>
            <a:off x="95176" y="1069420"/>
            <a:ext cx="11831951" cy="358689"/>
          </a:xfrm>
          <a:prstGeom prst="rect">
            <a:avLst/>
          </a:prstGeom>
          <a:noFill/>
        </p:spPr>
        <p:txBody>
          <a:bodyPr wrap="square" lIns="80899" tIns="40450" rIns="80899" bIns="40450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cs typeface="+mn-ea"/>
                <a:sym typeface="+mn-lt"/>
              </a:rPr>
              <a:t>查看可使用的命令</a:t>
            </a:r>
            <a:endParaRPr lang="id-ID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0DB3267-9D32-4CB7-9F23-67EECE08C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3" y="1582436"/>
            <a:ext cx="1011513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随便输入命令模式字符，更具提示输出</a:t>
            </a:r>
            <a:r>
              <a:rPr lang="en-US" altLang="zh-CN" sz="1600" i="1" dirty="0" err="1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cmdhelp</a:t>
            </a:r>
            <a:r>
              <a:rPr lang="zh-CN" altLang="en-US" sz="1600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命令查询可用命令及命令说明</a:t>
            </a:r>
            <a:endParaRPr lang="zh-CN" altLang="en-US" sz="1100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3" y="2075317"/>
            <a:ext cx="5491622" cy="43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6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619C8A2C-D282-4602-B69D-3CD87C86B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49" y="928824"/>
            <a:ext cx="247468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/>
            <a:r>
              <a:rPr lang="zh-CN" altLang="en-US" sz="5000" b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</a:t>
            </a:r>
            <a:endParaRPr lang="zh-CN" altLang="en-US" sz="50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160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031186E7-7608-4714-B1DC-5B5DCA13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47" y="1790600"/>
            <a:ext cx="200627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1" spc="600" dirty="0" smtClean="0">
                <a:solidFill>
                  <a:schemeClr val="bg1"/>
                </a:solidFill>
                <a:cs typeface="+mn-ea"/>
                <a:sym typeface="+mn-lt"/>
              </a:rPr>
              <a:t>PART.05</a:t>
            </a:r>
            <a:endParaRPr lang="en-US" altLang="zh-CN" sz="2000" i="1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E81A05D7-E387-4B91-9F95-B167427A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47" y="2612390"/>
            <a:ext cx="5841679" cy="134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48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安全可控</a:t>
            </a:r>
            <a:endParaRPr lang="en-US" altLang="zh-CN" sz="4800" b="1" i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020817" y="0"/>
            <a:ext cx="771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3" y="402592"/>
            <a:ext cx="989619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2000" b="1" i="1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命令权限</a:t>
            </a:r>
            <a:endParaRPr lang="en-US" altLang="zh-CN" sz="2000" b="1" i="1" dirty="0" smtClean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fontAlgn="base"/>
            <a:r>
              <a:rPr lang="zh-CN" altLang="en-US" b="1" i="1" dirty="0" smtClean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可对所有用户设置命令权限。权限粒度可设置到当个命令，可在配置文件进行设置说明如下图：</a:t>
            </a:r>
            <a:endParaRPr lang="en-US" altLang="zh-CN" b="1" i="1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3" y="1351021"/>
            <a:ext cx="11016659" cy="511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6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:a16="http://schemas.microsoft.com/office/drawing/2014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2" y="1010164"/>
            <a:ext cx="1101665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可修改</a:t>
            </a:r>
            <a:r>
              <a:rPr lang="en-US" altLang="zh-CN" sz="2000" b="1" i="1" dirty="0" err="1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errbot</a:t>
            </a: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源码后现可对实际命令使用进行记录，直接输出到</a:t>
            </a:r>
            <a:r>
              <a:rPr lang="en-US" altLang="zh-CN" sz="2000" b="1" i="1" dirty="0" err="1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elasticsearch</a:t>
            </a: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进行保存方便安全</a:t>
            </a:r>
            <a:r>
              <a:rPr lang="zh-CN" altLang="en-US" sz="2000" b="1" i="1" dirty="0" smtClean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审计</a:t>
            </a:r>
            <a:endParaRPr lang="en-US" altLang="zh-CN" sz="2000" b="1" i="1" dirty="0" smtClean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也可以通过</a:t>
            </a:r>
            <a:r>
              <a:rPr lang="en-US" altLang="zh-CN" sz="2000" b="1" i="1" dirty="0" err="1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errbot</a:t>
            </a: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日志进行收集过滤后存入</a:t>
            </a:r>
            <a:r>
              <a:rPr lang="en-US" altLang="zh-CN" sz="2000" b="1" i="1" dirty="0" err="1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elasticsearch</a:t>
            </a: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进行</a:t>
            </a:r>
            <a:r>
              <a:rPr lang="zh-CN" altLang="en-US" sz="2000" b="1" i="1" dirty="0" smtClean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保存</a:t>
            </a:r>
            <a:endParaRPr lang="en-US" altLang="zh-CN" sz="2000" b="1" i="1" dirty="0" smtClean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zh-CN" altLang="en-US" sz="2000" b="1" i="1" dirty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记录命令使用情况图如下（有命令执行者、实际命令、执行时间详细记录</a:t>
            </a:r>
            <a:r>
              <a:rPr lang="zh-CN" altLang="en-US" sz="2000" b="1" i="1" dirty="0" smtClean="0">
                <a:solidFill>
                  <a:schemeClr val="bg1"/>
                </a:solidFill>
                <a:latin typeface="+mn-ea"/>
                <a:ea typeface="+mn-ea"/>
                <a:cs typeface="+mn-ea"/>
                <a:sym typeface="+mn-lt"/>
              </a:rPr>
              <a:t>）</a:t>
            </a:r>
            <a:endParaRPr lang="en-US" altLang="zh-CN" sz="2000" b="1" i="1" dirty="0">
              <a:solidFill>
                <a:schemeClr val="bg1"/>
              </a:solidFill>
              <a:latin typeface="+mn-ea"/>
              <a:ea typeface="+mn-ea"/>
              <a:cs typeface="+mn-ea"/>
              <a:sym typeface="+mn-lt"/>
            </a:endParaRPr>
          </a:p>
          <a:p>
            <a:pPr marL="457200" indent="-457200" fontAlgn="base">
              <a:buFont typeface="Wingdings" panose="05000000000000000000" pitchFamily="2" charset="2"/>
              <a:buChar char="Ø"/>
            </a:pPr>
            <a:endParaRPr lang="en-US" altLang="zh-CN" sz="2000" b="1" i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2" y="3041066"/>
            <a:ext cx="11446074" cy="979465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2" y="159188"/>
            <a:ext cx="110166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2000" b="1" i="1" dirty="0" smtClean="0">
                <a:solidFill>
                  <a:schemeClr val="bg1"/>
                </a:solidFill>
                <a:cs typeface="+mn-ea"/>
                <a:sym typeface="+mn-lt"/>
              </a:rPr>
              <a:t>命令审计</a:t>
            </a:r>
            <a:endParaRPr lang="en-US" altLang="zh-CN" sz="2000" b="1" i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760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2" y="784731"/>
            <a:ext cx="110166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zh-CN" altLang="en-US" sz="2000" b="1" i="1" dirty="0" smtClean="0">
                <a:solidFill>
                  <a:schemeClr val="bg1"/>
                </a:solidFill>
                <a:cs typeface="+mn-ea"/>
                <a:sym typeface="+mn-lt"/>
              </a:rPr>
              <a:t>可通过</a:t>
            </a:r>
            <a:r>
              <a:rPr lang="en-US" altLang="zh-CN" sz="2000" b="1" i="1" dirty="0" err="1" smtClean="0">
                <a:solidFill>
                  <a:schemeClr val="bg1"/>
                </a:solidFill>
                <a:cs typeface="+mn-ea"/>
                <a:sym typeface="+mn-lt"/>
              </a:rPr>
              <a:t>stackstorm</a:t>
            </a:r>
            <a:r>
              <a:rPr lang="zh-CN" altLang="en-US" sz="2000" b="1" i="1" dirty="0" smtClean="0">
                <a:solidFill>
                  <a:schemeClr val="bg1"/>
                </a:solidFill>
                <a:cs typeface="+mn-ea"/>
                <a:sym typeface="+mn-lt"/>
              </a:rPr>
              <a:t>进行事件追踪</a:t>
            </a:r>
            <a:r>
              <a:rPr lang="zh-CN" altLang="en-US" sz="2000" b="1" i="1" dirty="0">
                <a:solidFill>
                  <a:schemeClr val="bg1"/>
                </a:solidFill>
                <a:cs typeface="+mn-ea"/>
                <a:sym typeface="+mn-lt"/>
              </a:rPr>
              <a:t>。</a:t>
            </a:r>
            <a:r>
              <a:rPr lang="zh-CN" altLang="en-US" sz="2000" b="1" i="1" dirty="0" smtClean="0">
                <a:solidFill>
                  <a:schemeClr val="bg1"/>
                </a:solidFill>
                <a:cs typeface="+mn-ea"/>
                <a:sym typeface="+mn-lt"/>
              </a:rPr>
              <a:t>查看</a:t>
            </a:r>
            <a:r>
              <a:rPr lang="en-US" altLang="zh-CN" sz="2000" b="1" i="1" dirty="0" err="1" smtClean="0">
                <a:solidFill>
                  <a:schemeClr val="bg1"/>
                </a:solidFill>
                <a:cs typeface="+mn-ea"/>
                <a:sym typeface="+mn-lt"/>
              </a:rPr>
              <a:t>stackstorm</a:t>
            </a:r>
            <a:r>
              <a:rPr lang="zh-CN" altLang="en-US" sz="2000" b="1" i="1" dirty="0" smtClean="0">
                <a:solidFill>
                  <a:schemeClr val="bg1"/>
                </a:solidFill>
                <a:cs typeface="+mn-ea"/>
                <a:sym typeface="+mn-lt"/>
              </a:rPr>
              <a:t>事件执行过程如下图</a:t>
            </a:r>
            <a:endParaRPr lang="en-US" altLang="zh-CN" sz="2000" b="1" i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xmlns:mc="http://schemas.openxmlformats.org/markup-compatibility/2006" xmlns:p14="http://schemas.microsoft.com/office/powerpoint/2010/main" xmlns:a14="http://schemas.microsoft.com/office/drawing/2010/main" xmlns="" id="{5C57750B-CFE2-41BA-AE38-09049222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22" y="159188"/>
            <a:ext cx="110166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2000" b="1" i="1" dirty="0" smtClean="0">
                <a:solidFill>
                  <a:schemeClr val="bg1"/>
                </a:solidFill>
                <a:cs typeface="+mn-ea"/>
                <a:sym typeface="+mn-lt"/>
              </a:rPr>
              <a:t>事件追踪</a:t>
            </a:r>
            <a:endParaRPr lang="en-US" altLang="zh-CN" sz="2000" b="1" i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2" y="1184841"/>
            <a:ext cx="10084158" cy="55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1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:a14="http://schemas.microsoft.com/office/drawing/2010/main" xmlns="">
      <p:transition spd="slow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54197" y="2399300"/>
            <a:ext cx="6190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 smtClean="0">
                <a:solidFill>
                  <a:schemeClr val="bg1"/>
                </a:solidFill>
                <a:cs typeface="+mn-ea"/>
                <a:sym typeface="+mn-lt"/>
              </a:rPr>
              <a:t>THANK</a:t>
            </a:r>
            <a:r>
              <a:rPr kumimoji="1" lang="zh-CN" altLang="en-US" sz="5400" b="1" dirty="0" smtClean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kumimoji="1" lang="en-US" altLang="zh-CN" sz="5400" b="1" dirty="0" smtClean="0">
                <a:solidFill>
                  <a:schemeClr val="bg1"/>
                </a:solidFill>
                <a:cs typeface="+mn-ea"/>
                <a:sym typeface="+mn-lt"/>
              </a:rPr>
              <a:t>YOU</a:t>
            </a:r>
            <a:endParaRPr kumimoji="1" lang="zh-CN" altLang="en-US" sz="5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10279" y="1845302"/>
            <a:ext cx="3878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400" b="1" dirty="0" smtClean="0">
                <a:solidFill>
                  <a:schemeClr val="bg1"/>
                </a:solidFill>
                <a:cs typeface="+mn-ea"/>
                <a:sym typeface="+mn-lt"/>
              </a:rPr>
              <a:t>技术引领未来</a:t>
            </a:r>
            <a:endParaRPr kumimoji="1"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61930" y="4430626"/>
            <a:ext cx="457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 smtClean="0">
                <a:solidFill>
                  <a:schemeClr val="bg1"/>
                </a:solidFill>
                <a:cs typeface="+mn-ea"/>
                <a:sym typeface="+mn-lt"/>
              </a:rPr>
              <a:t>方案设计：</a:t>
            </a:r>
            <a:r>
              <a:rPr kumimoji="1" lang="en-US" altLang="zh-CN" dirty="0" err="1" smtClean="0">
                <a:solidFill>
                  <a:schemeClr val="bg1"/>
                </a:solidFill>
                <a:cs typeface="+mn-ea"/>
                <a:sym typeface="+mn-lt"/>
              </a:rPr>
              <a:t>hodor</a:t>
            </a:r>
            <a:endParaRPr kumimoji="1"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879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jcxtg3l0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</TotalTime>
  <Words>937</Words>
  <Application>Microsoft Office PowerPoint</Application>
  <PresentationFormat>宽屏</PresentationFormat>
  <Paragraphs>106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宋体</vt:lpstr>
      <vt:lpstr>微软雅黑</vt:lpstr>
      <vt:lpstr>Arial</vt:lpstr>
      <vt:lpstr>Calibri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</dc:title>
  <dc:creator>第一PPT</dc:creator>
  <cp:keywords>www.1ppt.com</cp:keywords>
  <cp:lastModifiedBy>个人用户</cp:lastModifiedBy>
  <cp:revision>121</cp:revision>
  <dcterms:created xsi:type="dcterms:W3CDTF">2017-08-18T03:02:00Z</dcterms:created>
  <dcterms:modified xsi:type="dcterms:W3CDTF">2020-10-08T07:13:48Z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